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6" r:id="rId10"/>
    <p:sldId id="26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185DE-4C0B-432F-9724-00AC78434B6F}" type="datetimeFigureOut">
              <a:rPr lang="en-US" smtClean="0"/>
              <a:t>2/22/2021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DEF90-EA98-4F3A-904F-2841F62E23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8126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185DE-4C0B-432F-9724-00AC78434B6F}" type="datetimeFigureOut">
              <a:rPr lang="en-US" smtClean="0"/>
              <a:t>2/22/2021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DEF90-EA98-4F3A-904F-2841F62E23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48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185DE-4C0B-432F-9724-00AC78434B6F}" type="datetimeFigureOut">
              <a:rPr lang="en-US" smtClean="0"/>
              <a:t>2/22/2021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DEF90-EA98-4F3A-904F-2841F62E23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553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185DE-4C0B-432F-9724-00AC78434B6F}" type="datetimeFigureOut">
              <a:rPr lang="en-US" smtClean="0"/>
              <a:t>2/22/2021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DEF90-EA98-4F3A-904F-2841F62E23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413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185DE-4C0B-432F-9724-00AC78434B6F}" type="datetimeFigureOut">
              <a:rPr lang="en-US" smtClean="0"/>
              <a:t>2/22/2021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DEF90-EA98-4F3A-904F-2841F62E23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931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185DE-4C0B-432F-9724-00AC78434B6F}" type="datetimeFigureOut">
              <a:rPr lang="en-US" smtClean="0"/>
              <a:t>2/22/2021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DEF90-EA98-4F3A-904F-2841F62E23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991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185DE-4C0B-432F-9724-00AC78434B6F}" type="datetimeFigureOut">
              <a:rPr lang="en-US" smtClean="0"/>
              <a:t>2/22/2021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DEF90-EA98-4F3A-904F-2841F62E23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60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185DE-4C0B-432F-9724-00AC78434B6F}" type="datetimeFigureOut">
              <a:rPr lang="en-US" smtClean="0"/>
              <a:t>2/22/2021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DEF90-EA98-4F3A-904F-2841F62E23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390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185DE-4C0B-432F-9724-00AC78434B6F}" type="datetimeFigureOut">
              <a:rPr lang="en-US" smtClean="0"/>
              <a:t>2/22/2021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DEF90-EA98-4F3A-904F-2841F62E23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299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185DE-4C0B-432F-9724-00AC78434B6F}" type="datetimeFigureOut">
              <a:rPr lang="en-US" smtClean="0"/>
              <a:t>2/22/2021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DEF90-EA98-4F3A-904F-2841F62E23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675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185DE-4C0B-432F-9724-00AC78434B6F}" type="datetimeFigureOut">
              <a:rPr lang="en-US" smtClean="0"/>
              <a:t>2/22/2021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DEF90-EA98-4F3A-904F-2841F62E23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782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3185DE-4C0B-432F-9724-00AC78434B6F}" type="datetimeFigureOut">
              <a:rPr lang="en-US" smtClean="0"/>
              <a:t>2/22/2021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5DEF90-EA98-4F3A-904F-2841F62E23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129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8941" y="504177"/>
            <a:ext cx="11359166" cy="1131440"/>
          </a:xfrm>
        </p:spPr>
        <p:txBody>
          <a:bodyPr>
            <a:normAutofit fontScale="90000"/>
          </a:bodyPr>
          <a:lstStyle/>
          <a:p>
            <a:r>
              <a:rPr lang="en-US" sz="3600" b="1" dirty="0" smtClean="0">
                <a:latin typeface="+mn-lt"/>
              </a:rPr>
              <a:t>CSP 201 – INTRODUCTION TO GENERAL AGRICULTURE</a:t>
            </a:r>
            <a:br>
              <a:rPr lang="en-US" sz="3600" b="1" dirty="0" smtClean="0">
                <a:latin typeface="+mn-lt"/>
              </a:rPr>
            </a:br>
            <a:r>
              <a:rPr lang="en-US" sz="2400" b="1" dirty="0">
                <a:latin typeface="+mn-lt"/>
              </a:rPr>
              <a:t/>
            </a:r>
            <a:br>
              <a:rPr lang="en-US" sz="2400" b="1" dirty="0">
                <a:latin typeface="+mn-lt"/>
              </a:rPr>
            </a:br>
            <a:r>
              <a:rPr lang="en-US" sz="2400" b="1" dirty="0" smtClean="0">
                <a:latin typeface="+mn-lt"/>
              </a:rPr>
              <a:t>INTRODUCTION TO ANIMAL PRODUCTION AND HEALTH </a:t>
            </a:r>
            <a:endParaRPr lang="en-US" sz="2400" b="1" dirty="0"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395471"/>
            <a:ext cx="9144000" cy="4134118"/>
          </a:xfrm>
        </p:spPr>
        <p:txBody>
          <a:bodyPr>
            <a:normAutofit/>
          </a:bodyPr>
          <a:lstStyle/>
          <a:p>
            <a:pPr algn="l"/>
            <a:r>
              <a:rPr lang="en-US" dirty="0" smtClean="0"/>
              <a:t>Animal husbandry – the management of domestic farm animals, also known as livestock.</a:t>
            </a:r>
          </a:p>
          <a:p>
            <a:pPr algn="l"/>
            <a:r>
              <a:rPr lang="en-US" dirty="0" smtClean="0"/>
              <a:t>Classification of Farm Animals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smtClean="0"/>
              <a:t>Ruminants – those with complex or compartmentalized stomach (rumen, reticulum, </a:t>
            </a:r>
            <a:r>
              <a:rPr lang="en-US" dirty="0" err="1" smtClean="0"/>
              <a:t>omasum</a:t>
            </a:r>
            <a:r>
              <a:rPr lang="en-US" dirty="0" smtClean="0"/>
              <a:t> and abomasum). Examples are cattle, sheep, goat.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err="1" smtClean="0"/>
              <a:t>Monogastrics</a:t>
            </a:r>
            <a:r>
              <a:rPr lang="en-US" dirty="0" smtClean="0"/>
              <a:t> – simple stomach (no compartment). Examples are poultry, pig.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smtClean="0"/>
              <a:t>Pseudo-ruminants or non-ruminant herbivores e.g. rabbits, guinea pig, equine/horse, donkey.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0543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910" y="165212"/>
            <a:ext cx="11237890" cy="1032523"/>
          </a:xfrm>
        </p:spPr>
        <p:txBody>
          <a:bodyPr/>
          <a:lstStyle/>
          <a:p>
            <a:r>
              <a:rPr lang="en-US" b="1" dirty="0" smtClean="0"/>
              <a:t>Management System for farm animals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0775"/>
            <a:ext cx="10515600" cy="5128966"/>
          </a:xfrm>
        </p:spPr>
        <p:txBody>
          <a:bodyPr>
            <a:normAutofit fontScale="92500" lnSpcReduction="20000"/>
          </a:bodyPr>
          <a:lstStyle/>
          <a:p>
            <a:r>
              <a:rPr lang="en-US" dirty="0" err="1" smtClean="0"/>
              <a:t>Normadic</a:t>
            </a:r>
            <a:r>
              <a:rPr lang="en-US" dirty="0" smtClean="0"/>
              <a:t> system</a:t>
            </a:r>
          </a:p>
          <a:p>
            <a:r>
              <a:rPr lang="en-US" dirty="0" smtClean="0"/>
              <a:t>Free range or extensive system</a:t>
            </a:r>
          </a:p>
          <a:p>
            <a:r>
              <a:rPr lang="en-US" dirty="0" smtClean="0"/>
              <a:t>Intensive system</a:t>
            </a:r>
          </a:p>
          <a:p>
            <a:r>
              <a:rPr lang="en-US" dirty="0" smtClean="0"/>
              <a:t>Semi- intensive system</a:t>
            </a:r>
          </a:p>
          <a:p>
            <a:pPr marL="0" indent="0">
              <a:buNone/>
            </a:pPr>
            <a:endParaRPr lang="en-US" dirty="0" smtClean="0"/>
          </a:p>
          <a:p>
            <a:pPr>
              <a:buFont typeface="Wingdings" panose="05000000000000000000" pitchFamily="2" charset="2"/>
              <a:buChar char="v"/>
            </a:pPr>
            <a:r>
              <a:rPr lang="en-US" b="1" dirty="0" smtClean="0"/>
              <a:t>Purpose of Keeping Livestock</a:t>
            </a:r>
          </a:p>
          <a:p>
            <a:r>
              <a:rPr lang="en-US" dirty="0" smtClean="0"/>
              <a:t>Meat</a:t>
            </a:r>
          </a:p>
          <a:p>
            <a:r>
              <a:rPr lang="en-US" dirty="0" smtClean="0"/>
              <a:t>Milk</a:t>
            </a:r>
          </a:p>
          <a:p>
            <a:r>
              <a:rPr lang="en-US" dirty="0" smtClean="0"/>
              <a:t>Eggs</a:t>
            </a:r>
          </a:p>
          <a:p>
            <a:r>
              <a:rPr lang="en-US" dirty="0" smtClean="0"/>
              <a:t>Medicinal/pharmaceutical purpose</a:t>
            </a:r>
          </a:p>
          <a:p>
            <a:r>
              <a:rPr lang="en-US" dirty="0" smtClean="0"/>
              <a:t>Industrial use</a:t>
            </a:r>
          </a:p>
          <a:p>
            <a:r>
              <a:rPr lang="en-US" dirty="0" smtClean="0"/>
              <a:t>Source of income</a:t>
            </a:r>
            <a:r>
              <a:rPr lang="en-US" dirty="0"/>
              <a:t>;</a:t>
            </a:r>
            <a:r>
              <a:rPr lang="en-US" dirty="0" smtClean="0"/>
              <a:t> and so 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0598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183" y="1"/>
            <a:ext cx="11160617" cy="1120462"/>
          </a:xfrm>
        </p:spPr>
        <p:txBody>
          <a:bodyPr/>
          <a:lstStyle/>
          <a:p>
            <a:r>
              <a:rPr lang="en-US" b="1" dirty="0" smtClean="0"/>
              <a:t>Problems of Livestock production in Nigeria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Poor nutrition</a:t>
            </a:r>
          </a:p>
          <a:p>
            <a:r>
              <a:rPr lang="en-US" dirty="0" smtClean="0"/>
              <a:t>Poor marketing and distribution</a:t>
            </a:r>
          </a:p>
          <a:p>
            <a:r>
              <a:rPr lang="en-US" dirty="0" smtClean="0"/>
              <a:t>Inadequate funding</a:t>
            </a:r>
          </a:p>
          <a:p>
            <a:r>
              <a:rPr lang="en-US" dirty="0" smtClean="0"/>
              <a:t>Inadequate manpower/technical know-how</a:t>
            </a:r>
          </a:p>
          <a:p>
            <a:r>
              <a:rPr lang="en-US" dirty="0" smtClean="0"/>
              <a:t>Religious beliefs</a:t>
            </a:r>
          </a:p>
          <a:p>
            <a:r>
              <a:rPr lang="en-US" dirty="0" smtClean="0"/>
              <a:t>Environment/disease</a:t>
            </a:r>
          </a:p>
          <a:p>
            <a:r>
              <a:rPr lang="en-US" dirty="0" smtClean="0"/>
              <a:t>Poor management</a:t>
            </a:r>
          </a:p>
          <a:p>
            <a:r>
              <a:rPr lang="en-US" dirty="0" smtClean="0"/>
              <a:t>Lack of data base</a:t>
            </a:r>
          </a:p>
          <a:p>
            <a:r>
              <a:rPr lang="en-US" dirty="0" err="1" smtClean="0"/>
              <a:t>Unfavourable</a:t>
            </a:r>
            <a:r>
              <a:rPr lang="en-US" dirty="0" smtClean="0"/>
              <a:t> government policy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77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941" y="0"/>
            <a:ext cx="10515600" cy="1017431"/>
          </a:xfrm>
        </p:spPr>
        <p:txBody>
          <a:bodyPr/>
          <a:lstStyle/>
          <a:p>
            <a:r>
              <a:rPr lang="en-US" b="1" dirty="0" smtClean="0"/>
              <a:t>Principles of Livestock Management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941" y="1468192"/>
            <a:ext cx="11134859" cy="503563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smtClean="0"/>
              <a:t>Selection of breeding stock are based on the following:</a:t>
            </a:r>
          </a:p>
          <a:p>
            <a:r>
              <a:rPr lang="en-US" dirty="0" smtClean="0"/>
              <a:t>Heredity</a:t>
            </a:r>
          </a:p>
          <a:p>
            <a:r>
              <a:rPr lang="en-US" dirty="0" smtClean="0"/>
              <a:t>Health (eyes, nose, anus, leg, mouth, skin)</a:t>
            </a:r>
          </a:p>
          <a:p>
            <a:r>
              <a:rPr lang="en-US" dirty="0" smtClean="0"/>
              <a:t>Age</a:t>
            </a:r>
          </a:p>
          <a:p>
            <a:r>
              <a:rPr lang="en-US" dirty="0" smtClean="0"/>
              <a:t>Fertility and fecundity</a:t>
            </a:r>
          </a:p>
          <a:p>
            <a:r>
              <a:rPr lang="en-US" dirty="0" smtClean="0"/>
              <a:t>Body conformation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Classification based on feed:</a:t>
            </a:r>
          </a:p>
          <a:p>
            <a:r>
              <a:rPr lang="en-US" dirty="0" smtClean="0"/>
              <a:t>Herbivores – feed on plant materials</a:t>
            </a:r>
          </a:p>
          <a:p>
            <a:r>
              <a:rPr lang="en-US" dirty="0" smtClean="0"/>
              <a:t>Carnivores – feed on animal flesh</a:t>
            </a:r>
          </a:p>
          <a:p>
            <a:r>
              <a:rPr lang="en-US" dirty="0" smtClean="0"/>
              <a:t>Omnivores – Feed on both plants and animals.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1322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1353800" cy="695460"/>
          </a:xfrm>
        </p:spPr>
        <p:txBody>
          <a:bodyPr>
            <a:normAutofit/>
          </a:bodyPr>
          <a:lstStyle/>
          <a:p>
            <a:r>
              <a:rPr lang="en-US" b="1" dirty="0" smtClean="0"/>
              <a:t>Housing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104" y="833952"/>
            <a:ext cx="11783095" cy="58373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Reasons for housing</a:t>
            </a:r>
          </a:p>
          <a:p>
            <a:r>
              <a:rPr lang="en-US" dirty="0" smtClean="0"/>
              <a:t>For protection against theft, harsh weather, diseases and proper management.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 smtClean="0"/>
              <a:t>The type of housing depends on:</a:t>
            </a:r>
          </a:p>
          <a:p>
            <a:r>
              <a:rPr lang="en-US" dirty="0" smtClean="0"/>
              <a:t>Type of animals</a:t>
            </a:r>
          </a:p>
          <a:p>
            <a:r>
              <a:rPr lang="en-US" dirty="0" smtClean="0"/>
              <a:t>Type of production</a:t>
            </a:r>
          </a:p>
          <a:p>
            <a:r>
              <a:rPr lang="en-US" dirty="0" smtClean="0"/>
              <a:t>Type of management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smtClean="0"/>
              <a:t>Grooming – </a:t>
            </a:r>
            <a:r>
              <a:rPr lang="en-US" dirty="0" smtClean="0"/>
              <a:t>brushing, washing and cleaning of all body parts of animal.</a:t>
            </a:r>
          </a:p>
          <a:p>
            <a:pPr marL="0" indent="0">
              <a:buNone/>
            </a:pPr>
            <a:r>
              <a:rPr lang="en-US" dirty="0" smtClean="0"/>
              <a:t>Done to detect diseases, ward off </a:t>
            </a:r>
            <a:r>
              <a:rPr lang="en-US" dirty="0" err="1" smtClean="0"/>
              <a:t>ecto</a:t>
            </a:r>
            <a:r>
              <a:rPr lang="en-US" dirty="0" smtClean="0"/>
              <a:t>-parasites, keep the animal warm, taming and allows other operations like dehorning, castration, marking and so on.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5864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1134859" cy="798490"/>
          </a:xfrm>
        </p:spPr>
        <p:txBody>
          <a:bodyPr/>
          <a:lstStyle/>
          <a:p>
            <a:r>
              <a:rPr lang="en-US" b="1" dirty="0" smtClean="0"/>
              <a:t>Livestock Diseases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98489"/>
            <a:ext cx="12028868" cy="591140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smtClean="0"/>
              <a:t>Diseases – deviation from the state of normal health.</a:t>
            </a:r>
          </a:p>
          <a:p>
            <a:pPr marL="0" indent="0">
              <a:buNone/>
            </a:pPr>
            <a:r>
              <a:rPr lang="en-US" dirty="0" smtClean="0"/>
              <a:t>They are contracted via:</a:t>
            </a:r>
          </a:p>
          <a:p>
            <a:r>
              <a:rPr lang="en-US" dirty="0" smtClean="0"/>
              <a:t>Contact with diseased animals</a:t>
            </a:r>
          </a:p>
          <a:p>
            <a:r>
              <a:rPr lang="en-US" dirty="0" smtClean="0"/>
              <a:t>Improper sanitation</a:t>
            </a:r>
          </a:p>
          <a:p>
            <a:r>
              <a:rPr lang="en-US" dirty="0" smtClean="0"/>
              <a:t>Improper management, feeding and care</a:t>
            </a:r>
          </a:p>
          <a:p>
            <a:pPr marL="0" indent="0">
              <a:buNone/>
            </a:pPr>
            <a:r>
              <a:rPr lang="en-US" b="1" dirty="0" smtClean="0"/>
              <a:t>Signs of ill health</a:t>
            </a:r>
          </a:p>
          <a:p>
            <a:r>
              <a:rPr lang="en-US" dirty="0" smtClean="0"/>
              <a:t>Loss of appetite</a:t>
            </a:r>
          </a:p>
          <a:p>
            <a:r>
              <a:rPr lang="en-US" dirty="0" smtClean="0"/>
              <a:t>Dullness (eyes, lacrimation)</a:t>
            </a:r>
          </a:p>
          <a:p>
            <a:r>
              <a:rPr lang="en-US" dirty="0" smtClean="0"/>
              <a:t>Posture</a:t>
            </a:r>
          </a:p>
          <a:p>
            <a:r>
              <a:rPr lang="en-US" dirty="0" smtClean="0"/>
              <a:t>Rough coat</a:t>
            </a:r>
          </a:p>
          <a:p>
            <a:r>
              <a:rPr lang="en-US" dirty="0" smtClean="0"/>
              <a:t>Watery </a:t>
            </a:r>
            <a:r>
              <a:rPr lang="en-US" dirty="0" err="1" smtClean="0"/>
              <a:t>faeces</a:t>
            </a:r>
            <a:endParaRPr lang="en-US" dirty="0" smtClean="0"/>
          </a:p>
          <a:p>
            <a:r>
              <a:rPr lang="en-US" dirty="0" smtClean="0"/>
              <a:t>Grunting</a:t>
            </a:r>
          </a:p>
          <a:p>
            <a:r>
              <a:rPr lang="en-US" dirty="0" smtClean="0"/>
              <a:t>change in </a:t>
            </a:r>
            <a:r>
              <a:rPr lang="en-US" dirty="0" err="1" smtClean="0"/>
              <a:t>behavioural</a:t>
            </a:r>
            <a:r>
              <a:rPr lang="en-US" dirty="0" smtClean="0"/>
              <a:t> pattern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722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759854"/>
          </a:xfrm>
        </p:spPr>
        <p:txBody>
          <a:bodyPr/>
          <a:lstStyle/>
          <a:p>
            <a:r>
              <a:rPr lang="en-US" b="1" dirty="0" smtClean="0"/>
              <a:t>Common Diseases Associated with Livestock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104" y="782438"/>
            <a:ext cx="12087895" cy="5940334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Diseases are classified based on their etiology (causative agent).</a:t>
            </a:r>
          </a:p>
          <a:p>
            <a:pPr marL="0" indent="0">
              <a:buNone/>
            </a:pPr>
            <a:r>
              <a:rPr lang="en-US" dirty="0" smtClean="0"/>
              <a:t>Viral, bacterial, protozoan, helminthes, </a:t>
            </a:r>
            <a:r>
              <a:rPr lang="en-US" dirty="0" err="1" smtClean="0"/>
              <a:t>ecto</a:t>
            </a:r>
            <a:r>
              <a:rPr lang="en-US" dirty="0" smtClean="0"/>
              <a:t>-parasitic, </a:t>
            </a:r>
            <a:r>
              <a:rPr lang="en-US" dirty="0" err="1" smtClean="0"/>
              <a:t>rickettsial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Cattle</a:t>
            </a:r>
            <a:r>
              <a:rPr lang="en-US" dirty="0" smtClean="0"/>
              <a:t> – </a:t>
            </a:r>
            <a:r>
              <a:rPr lang="en-US" dirty="0" err="1" smtClean="0"/>
              <a:t>rinderpest</a:t>
            </a:r>
            <a:r>
              <a:rPr lang="en-US" dirty="0" smtClean="0"/>
              <a:t>, tuberculosis, foot and mouth diseases, </a:t>
            </a:r>
            <a:r>
              <a:rPr lang="en-US" dirty="0" err="1" smtClean="0"/>
              <a:t>babesiosis</a:t>
            </a:r>
            <a:r>
              <a:rPr lang="en-US" dirty="0" smtClean="0"/>
              <a:t>, brucellosis, </a:t>
            </a:r>
            <a:r>
              <a:rPr lang="en-US" dirty="0" err="1" smtClean="0"/>
              <a:t>trypanosomiasis</a:t>
            </a:r>
            <a:r>
              <a:rPr lang="en-US" dirty="0" smtClean="0"/>
              <a:t>, contagious bovine </a:t>
            </a:r>
            <a:r>
              <a:rPr lang="en-US" dirty="0" err="1" smtClean="0"/>
              <a:t>pleuropneumonia</a:t>
            </a:r>
            <a:r>
              <a:rPr lang="en-US" dirty="0" smtClean="0"/>
              <a:t>, tick and lice infestation.</a:t>
            </a:r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b="1" dirty="0" smtClean="0"/>
              <a:t>Pig</a:t>
            </a:r>
            <a:r>
              <a:rPr lang="en-US" dirty="0" smtClean="0"/>
              <a:t> – Swine </a:t>
            </a:r>
            <a:r>
              <a:rPr lang="en-US" dirty="0" err="1" smtClean="0"/>
              <a:t>erysipelosis</a:t>
            </a:r>
            <a:r>
              <a:rPr lang="en-US" dirty="0" smtClean="0"/>
              <a:t>, mange, African swine fever, hog cholera</a:t>
            </a:r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b="1" dirty="0" smtClean="0"/>
              <a:t>Goat and Sheep –</a:t>
            </a:r>
            <a:r>
              <a:rPr lang="en-US" dirty="0" smtClean="0"/>
              <a:t> Kata (PPR), brucellosis, anthrax, </a:t>
            </a:r>
            <a:r>
              <a:rPr lang="en-US" dirty="0" err="1" smtClean="0"/>
              <a:t>coccidiosis</a:t>
            </a:r>
            <a:r>
              <a:rPr lang="en-US" dirty="0" smtClean="0"/>
              <a:t>, foot rot</a:t>
            </a:r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b="1" dirty="0" smtClean="0"/>
              <a:t>Poultry –</a:t>
            </a:r>
            <a:r>
              <a:rPr lang="en-US" dirty="0" smtClean="0"/>
              <a:t> Newcastle diseases, </a:t>
            </a:r>
            <a:r>
              <a:rPr lang="en-US" dirty="0" err="1" smtClean="0"/>
              <a:t>gumboro</a:t>
            </a:r>
            <a:r>
              <a:rPr lang="en-US" dirty="0" smtClean="0"/>
              <a:t>, fowl typhoid, fowl pox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2696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695459"/>
          </a:xfrm>
        </p:spPr>
        <p:txBody>
          <a:bodyPr/>
          <a:lstStyle/>
          <a:p>
            <a:pPr algn="ctr"/>
            <a:r>
              <a:rPr lang="en-US" b="1" dirty="0" smtClean="0"/>
              <a:t>Breeds of Livestock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152" y="862885"/>
            <a:ext cx="5022761" cy="587276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 smtClean="0"/>
              <a:t>Goat</a:t>
            </a:r>
          </a:p>
          <a:p>
            <a:r>
              <a:rPr lang="en-US" dirty="0" smtClean="0"/>
              <a:t>West African Dwarf</a:t>
            </a:r>
          </a:p>
          <a:p>
            <a:r>
              <a:rPr lang="en-US" dirty="0" smtClean="0"/>
              <a:t>Red </a:t>
            </a:r>
            <a:r>
              <a:rPr lang="en-US" dirty="0" err="1" smtClean="0"/>
              <a:t>sokoto</a:t>
            </a:r>
            <a:r>
              <a:rPr lang="en-US" dirty="0" smtClean="0"/>
              <a:t> (</a:t>
            </a:r>
            <a:r>
              <a:rPr lang="en-US" dirty="0" err="1" smtClean="0"/>
              <a:t>Maradi</a:t>
            </a:r>
            <a:r>
              <a:rPr lang="en-US" dirty="0" smtClean="0"/>
              <a:t>)</a:t>
            </a:r>
          </a:p>
          <a:p>
            <a:r>
              <a:rPr lang="en-US" dirty="0" smtClean="0"/>
              <a:t>Angora</a:t>
            </a:r>
          </a:p>
          <a:p>
            <a:r>
              <a:rPr lang="en-US" dirty="0" err="1" smtClean="0"/>
              <a:t>Saanen</a:t>
            </a:r>
            <a:endParaRPr lang="en-US" dirty="0" smtClean="0"/>
          </a:p>
          <a:p>
            <a:r>
              <a:rPr lang="en-US" dirty="0" smtClean="0"/>
              <a:t>Anglo-Nubian</a:t>
            </a:r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b="1" dirty="0" smtClean="0"/>
              <a:t>Sheep</a:t>
            </a:r>
          </a:p>
          <a:p>
            <a:r>
              <a:rPr lang="en-US" dirty="0" err="1" smtClean="0"/>
              <a:t>Uda</a:t>
            </a:r>
            <a:endParaRPr lang="en-US" dirty="0" smtClean="0"/>
          </a:p>
          <a:p>
            <a:r>
              <a:rPr lang="en-US" dirty="0" err="1" smtClean="0"/>
              <a:t>Yankasa</a:t>
            </a:r>
            <a:endParaRPr lang="en-US" dirty="0" smtClean="0"/>
          </a:p>
          <a:p>
            <a:r>
              <a:rPr lang="en-US" dirty="0" smtClean="0"/>
              <a:t>WAD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18220" y="862885"/>
            <a:ext cx="5635580" cy="570534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 smtClean="0"/>
              <a:t>Cattle (indigenous)</a:t>
            </a:r>
          </a:p>
          <a:p>
            <a:r>
              <a:rPr lang="en-US" dirty="0" smtClean="0"/>
              <a:t>White Fulani (</a:t>
            </a:r>
            <a:r>
              <a:rPr lang="en-US" dirty="0" err="1" smtClean="0"/>
              <a:t>bunaji</a:t>
            </a:r>
            <a:r>
              <a:rPr lang="en-US" dirty="0" smtClean="0"/>
              <a:t>)</a:t>
            </a:r>
          </a:p>
          <a:p>
            <a:r>
              <a:rPr lang="en-US" dirty="0" smtClean="0"/>
              <a:t>Red </a:t>
            </a:r>
            <a:r>
              <a:rPr lang="en-US" dirty="0" err="1" smtClean="0"/>
              <a:t>bororo</a:t>
            </a:r>
            <a:endParaRPr lang="en-US" dirty="0" smtClean="0"/>
          </a:p>
          <a:p>
            <a:r>
              <a:rPr lang="en-US" dirty="0" err="1" smtClean="0"/>
              <a:t>Sokoto</a:t>
            </a:r>
            <a:r>
              <a:rPr lang="en-US" dirty="0" smtClean="0"/>
              <a:t> </a:t>
            </a:r>
            <a:r>
              <a:rPr lang="en-US" dirty="0" err="1" smtClean="0"/>
              <a:t>gudali</a:t>
            </a:r>
            <a:endParaRPr lang="en-US" dirty="0" smtClean="0"/>
          </a:p>
          <a:p>
            <a:r>
              <a:rPr lang="en-US" dirty="0" smtClean="0"/>
              <a:t>Adamawa </a:t>
            </a:r>
            <a:r>
              <a:rPr lang="en-US" dirty="0" err="1" smtClean="0"/>
              <a:t>gudali</a:t>
            </a:r>
            <a:endParaRPr lang="en-US" dirty="0" smtClean="0"/>
          </a:p>
          <a:p>
            <a:r>
              <a:rPr lang="en-US" dirty="0" err="1" smtClean="0"/>
              <a:t>Muturu</a:t>
            </a:r>
            <a:endParaRPr lang="en-US" dirty="0" smtClean="0"/>
          </a:p>
          <a:p>
            <a:r>
              <a:rPr lang="en-US" dirty="0" err="1" smtClean="0"/>
              <a:t>N’dama</a:t>
            </a:r>
            <a:endParaRPr lang="en-US" dirty="0" smtClean="0"/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b="1" dirty="0" smtClean="0"/>
              <a:t>Exotic</a:t>
            </a:r>
          </a:p>
          <a:p>
            <a:r>
              <a:rPr lang="en-US" dirty="0" smtClean="0"/>
              <a:t>Jersey</a:t>
            </a:r>
          </a:p>
          <a:p>
            <a:r>
              <a:rPr lang="en-US" dirty="0" smtClean="0"/>
              <a:t>Holstein Friesian</a:t>
            </a:r>
          </a:p>
          <a:p>
            <a:r>
              <a:rPr lang="en-US" dirty="0" smtClean="0"/>
              <a:t>Angus</a:t>
            </a:r>
          </a:p>
          <a:p>
            <a:r>
              <a:rPr lang="en-US" dirty="0" smtClean="0"/>
              <a:t>Brown Swiss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834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62885"/>
          </a:xfrm>
        </p:spPr>
        <p:txBody>
          <a:bodyPr/>
          <a:lstStyle/>
          <a:p>
            <a:r>
              <a:rPr lang="en-US" b="1" dirty="0" smtClean="0"/>
              <a:t>Signs of Parturition in cow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1" y="1287887"/>
            <a:ext cx="12080383" cy="5293216"/>
          </a:xfrm>
        </p:spPr>
        <p:txBody>
          <a:bodyPr/>
          <a:lstStyle/>
          <a:p>
            <a:r>
              <a:rPr lang="en-US" dirty="0" smtClean="0"/>
              <a:t>Cow becomes restless</a:t>
            </a:r>
          </a:p>
          <a:p>
            <a:r>
              <a:rPr lang="en-US" dirty="0" smtClean="0"/>
              <a:t>Enlargement of the vulva</a:t>
            </a:r>
          </a:p>
          <a:p>
            <a:r>
              <a:rPr lang="en-US" dirty="0" smtClean="0"/>
              <a:t>Distention of the udder and teats</a:t>
            </a:r>
          </a:p>
          <a:p>
            <a:r>
              <a:rPr lang="en-US" dirty="0" smtClean="0"/>
              <a:t>Frequent urination</a:t>
            </a:r>
          </a:p>
          <a:p>
            <a:r>
              <a:rPr lang="en-US" dirty="0" smtClean="0"/>
              <a:t>Mucus discharge from the vulva</a:t>
            </a:r>
          </a:p>
          <a:p>
            <a:r>
              <a:rPr lang="en-US" dirty="0" smtClean="0"/>
              <a:t>Animal stay off feed</a:t>
            </a:r>
          </a:p>
          <a:p>
            <a:r>
              <a:rPr lang="en-US" dirty="0" smtClean="0"/>
              <a:t>Appearance of fluid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0073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643943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Common terminologies in livestock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43944"/>
            <a:ext cx="12041746" cy="6214055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 smtClean="0"/>
              <a:t>Ram</a:t>
            </a:r>
            <a:r>
              <a:rPr lang="en-US" dirty="0" smtClean="0"/>
              <a:t> – male sheep</a:t>
            </a:r>
          </a:p>
          <a:p>
            <a:r>
              <a:rPr lang="en-US" b="1" dirty="0" smtClean="0"/>
              <a:t>Ewe</a:t>
            </a:r>
            <a:r>
              <a:rPr lang="en-US" dirty="0" smtClean="0"/>
              <a:t> – female sheep</a:t>
            </a:r>
          </a:p>
          <a:p>
            <a:r>
              <a:rPr lang="en-US" b="1" dirty="0" smtClean="0"/>
              <a:t>Lamb</a:t>
            </a:r>
            <a:r>
              <a:rPr lang="en-US" dirty="0" smtClean="0"/>
              <a:t> – young sheep</a:t>
            </a:r>
          </a:p>
          <a:p>
            <a:r>
              <a:rPr lang="en-US" b="1" dirty="0" smtClean="0"/>
              <a:t>Lambing</a:t>
            </a:r>
            <a:r>
              <a:rPr lang="en-US" dirty="0" smtClean="0"/>
              <a:t> </a:t>
            </a:r>
            <a:r>
              <a:rPr lang="en-US" dirty="0" smtClean="0"/>
              <a:t>–</a:t>
            </a:r>
            <a:r>
              <a:rPr lang="en-US" dirty="0" smtClean="0"/>
              <a:t> act of giving birth in sheep</a:t>
            </a:r>
          </a:p>
          <a:p>
            <a:r>
              <a:rPr lang="en-US" b="1" dirty="0" smtClean="0"/>
              <a:t>Buck or </a:t>
            </a:r>
            <a:r>
              <a:rPr lang="en-US" b="1" dirty="0" err="1" smtClean="0"/>
              <a:t>billy</a:t>
            </a:r>
            <a:r>
              <a:rPr lang="en-US" b="1" dirty="0" smtClean="0"/>
              <a:t> </a:t>
            </a:r>
            <a:r>
              <a:rPr lang="en-US" dirty="0" smtClean="0"/>
              <a:t>– matured male goat</a:t>
            </a:r>
          </a:p>
          <a:p>
            <a:r>
              <a:rPr lang="en-US" b="1" dirty="0" smtClean="0"/>
              <a:t>Doe/Nanny</a:t>
            </a:r>
            <a:r>
              <a:rPr lang="en-US" dirty="0" smtClean="0"/>
              <a:t> – matured female goat</a:t>
            </a:r>
          </a:p>
          <a:p>
            <a:r>
              <a:rPr lang="en-US" b="1" dirty="0" smtClean="0"/>
              <a:t>Kid</a:t>
            </a:r>
            <a:r>
              <a:rPr lang="en-US" dirty="0" smtClean="0"/>
              <a:t> – young goat</a:t>
            </a:r>
          </a:p>
          <a:p>
            <a:r>
              <a:rPr lang="en-US" b="1" dirty="0" smtClean="0"/>
              <a:t>Gestation</a:t>
            </a:r>
            <a:r>
              <a:rPr lang="en-US" dirty="0" smtClean="0"/>
              <a:t> – period of pregnancy</a:t>
            </a:r>
          </a:p>
          <a:p>
            <a:r>
              <a:rPr lang="en-US" b="1" dirty="0" smtClean="0"/>
              <a:t>Bull</a:t>
            </a:r>
            <a:r>
              <a:rPr lang="en-US" dirty="0" smtClean="0"/>
              <a:t> – matured male cattle</a:t>
            </a:r>
          </a:p>
          <a:p>
            <a:r>
              <a:rPr lang="en-US" b="1" dirty="0" smtClean="0"/>
              <a:t>Cow </a:t>
            </a:r>
            <a:r>
              <a:rPr lang="en-US" dirty="0" smtClean="0"/>
              <a:t>– matured female cattle</a:t>
            </a:r>
          </a:p>
          <a:p>
            <a:r>
              <a:rPr lang="en-US" b="1" dirty="0" smtClean="0"/>
              <a:t>Heifer</a:t>
            </a:r>
            <a:r>
              <a:rPr lang="en-US" dirty="0" smtClean="0"/>
              <a:t> – young female cow</a:t>
            </a:r>
          </a:p>
          <a:p>
            <a:r>
              <a:rPr lang="en-US" b="1" dirty="0" smtClean="0"/>
              <a:t>Parturition</a:t>
            </a:r>
            <a:r>
              <a:rPr lang="en-US" dirty="0" smtClean="0"/>
              <a:t> – act of giving birth in cow</a:t>
            </a:r>
          </a:p>
          <a:p>
            <a:r>
              <a:rPr lang="en-US" b="1" dirty="0" smtClean="0"/>
              <a:t>Boar </a:t>
            </a:r>
            <a:r>
              <a:rPr lang="en-US" dirty="0" smtClean="0"/>
              <a:t>– matured male pig</a:t>
            </a:r>
          </a:p>
          <a:p>
            <a:r>
              <a:rPr lang="en-US" b="1" dirty="0" smtClean="0"/>
              <a:t>Sow</a:t>
            </a:r>
            <a:r>
              <a:rPr lang="en-US" dirty="0" smtClean="0"/>
              <a:t> – matured female pig</a:t>
            </a:r>
          </a:p>
          <a:p>
            <a:r>
              <a:rPr lang="en-US" b="1" dirty="0" smtClean="0"/>
              <a:t>Piglet</a:t>
            </a:r>
            <a:r>
              <a:rPr lang="en-US" dirty="0" smtClean="0"/>
              <a:t> – a young pig</a:t>
            </a:r>
          </a:p>
          <a:p>
            <a:r>
              <a:rPr lang="en-US" b="1" dirty="0" smtClean="0"/>
              <a:t>Barrow</a:t>
            </a:r>
            <a:r>
              <a:rPr lang="en-US" dirty="0" smtClean="0"/>
              <a:t> – castrated male pig</a:t>
            </a:r>
          </a:p>
          <a:p>
            <a:r>
              <a:rPr lang="en-US" b="1" dirty="0" smtClean="0"/>
              <a:t>Farrowing</a:t>
            </a:r>
            <a:r>
              <a:rPr lang="en-US" dirty="0" smtClean="0"/>
              <a:t> </a:t>
            </a:r>
            <a:r>
              <a:rPr lang="en-US" dirty="0" smtClean="0"/>
              <a:t>–</a:t>
            </a:r>
            <a:r>
              <a:rPr lang="en-US" dirty="0" smtClean="0"/>
              <a:t> act of giving birth in pig.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4432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601</Words>
  <Application>Microsoft Office PowerPoint</Application>
  <PresentationFormat>Widescreen</PresentationFormat>
  <Paragraphs>128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Wingdings</vt:lpstr>
      <vt:lpstr>Office Theme</vt:lpstr>
      <vt:lpstr>CSP 201 – INTRODUCTION TO GENERAL AGRICULTURE  INTRODUCTION TO ANIMAL PRODUCTION AND HEALTH </vt:lpstr>
      <vt:lpstr>Management System for farm animals</vt:lpstr>
      <vt:lpstr>Problems of Livestock production in Nigeria</vt:lpstr>
      <vt:lpstr>Principles of Livestock Management</vt:lpstr>
      <vt:lpstr>Housing</vt:lpstr>
      <vt:lpstr>Livestock Diseases</vt:lpstr>
      <vt:lpstr>Common Diseases Associated with Livestock</vt:lpstr>
      <vt:lpstr>Breeds of Livestock</vt:lpstr>
      <vt:lpstr>Signs of Parturition in cow</vt:lpstr>
      <vt:lpstr>Common terminologies in livestock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CSP 201 – INTRODUCTION TO GENERAL AGRICULTURE  INTRODUCTION TO ANIMAL PRODUCTION AND HEALTH</dc:title>
  <dc:creator>Omotosi Oluwatosin</dc:creator>
  <cp:lastModifiedBy>Omotosi Oluwatosin</cp:lastModifiedBy>
  <cp:revision>15</cp:revision>
  <dcterms:created xsi:type="dcterms:W3CDTF">2021-02-22T08:10:56Z</dcterms:created>
  <dcterms:modified xsi:type="dcterms:W3CDTF">2021-02-22T09:40:55Z</dcterms:modified>
</cp:coreProperties>
</file>